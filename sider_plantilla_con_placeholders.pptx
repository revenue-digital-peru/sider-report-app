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HiDuc7Vby7sipXCvnbEbnOEej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62198B-88E3-438B-BC73-3978CD4393B8}">
  <a:tblStyle styleId="{EE62198B-88E3-438B-BC73-3978CD4393B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E9503EB-27C4-41CC-9937-C88961272CB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customschemas.google.com/relationships/presentationmetadata" Target="meta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6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6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198fb9a7c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9198fb9a7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032e05498_4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7032e05498_4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f58bdc0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96f58bdc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6f58bdc0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6f58bdc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f58bdc0d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6f58bdc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20f0b27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620f0b2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620f0b27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620f0b2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032e05498_4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7032e05498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17c78a67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117c78a67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fcd75b41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5fcd75b4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032e05498_4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27032e05498_4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790a96d7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6790a96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69933d6c6f_0_134"/>
          <p:cNvSpPr txBox="1"/>
          <p:nvPr>
            <p:ph type="title"/>
          </p:nvPr>
        </p:nvSpPr>
        <p:spPr>
          <a:xfrm>
            <a:off x="554736" y="355092"/>
            <a:ext cx="1108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500"/>
              <a:buFont typeface="Montserrat"/>
              <a:buNone/>
              <a:defRPr b="1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69933d6c6f_0_134"/>
          <p:cNvSpPr txBox="1"/>
          <p:nvPr>
            <p:ph idx="1" type="subTitle"/>
          </p:nvPr>
        </p:nvSpPr>
        <p:spPr>
          <a:xfrm>
            <a:off x="554736" y="1318966"/>
            <a:ext cx="1108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 b="0" sz="18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6" name="Google Shape;16;g269933d6c6f_0_134"/>
          <p:cNvCxnSpPr/>
          <p:nvPr/>
        </p:nvCxnSpPr>
        <p:spPr>
          <a:xfrm>
            <a:off x="554736" y="1188720"/>
            <a:ext cx="11082600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" name="Google Shape;17;g269933d6c6f_0_134"/>
          <p:cNvSpPr/>
          <p:nvPr/>
        </p:nvSpPr>
        <p:spPr>
          <a:xfrm>
            <a:off x="11312525" y="6498754"/>
            <a:ext cx="325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s-PE" sz="900" u="none" cap="none" strike="noStrike">
                <a:solidFill>
                  <a:srgbClr val="0C0C0C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rgbClr val="0C0C0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" name="Google Shape;18;g269933d6c6f_0_134"/>
          <p:cNvCxnSpPr/>
          <p:nvPr/>
        </p:nvCxnSpPr>
        <p:spPr>
          <a:xfrm>
            <a:off x="564896" y="6454468"/>
            <a:ext cx="11082600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" name="Google Shape;19;g269933d6c6f_0_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4896" y="6498754"/>
            <a:ext cx="554987" cy="14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22" name="Google Shape;22;p1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7" name="Google Shape;27;p14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6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42" name="Google Shape;42;p46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50" name="Google Shape;50;p48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480601" y="2613660"/>
            <a:ext cx="6896244" cy="13998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PE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Our Mission: </a:t>
            </a:r>
            <a:br>
              <a:rPr b="1" lang="es-PE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PE" sz="4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  <a:t>Make</a:t>
            </a:r>
            <a:r>
              <a:rPr b="1" lang="es-PE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r>
              <a:rPr b="1" lang="es-PE" sz="4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  <a:t>Companies Grow.</a:t>
            </a:r>
            <a:endParaRPr b="1" sz="4000">
              <a:solidFill>
                <a:srgbClr val="01A9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601" y="402927"/>
            <a:ext cx="1571946" cy="3815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480601" y="5842731"/>
            <a:ext cx="2423026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CONFIDENTIAL AND PROPRIETARY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Any use of this material without specific permisión of Revenue, is strictly prohibited.</a:t>
            </a:r>
            <a:endParaRPr b="0" i="0" sz="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94850" y="2180125"/>
            <a:ext cx="11202300" cy="29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PE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SIDER EXPRESS </a:t>
            </a:r>
            <a:endParaRPr b="1" sz="4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PE" sz="2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REPORTE </a:t>
            </a:r>
            <a:br>
              <a:rPr lang="es-PE" sz="2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s-PE" sz="6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  <a:t>{{MES}}</a:t>
            </a:r>
            <a:r>
              <a:rPr b="1" lang="es-PE" sz="6000">
                <a:solidFill>
                  <a:srgbClr val="01A9F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- PERFORMANCE </a:t>
            </a:r>
            <a:endParaRPr b="1" sz="6000">
              <a:solidFill>
                <a:srgbClr val="01A9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PE" sz="3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({{PERIODO_INICIO}} - {{PERIODO_FIN}})</a:t>
            </a:r>
            <a:endParaRPr b="1" sz="3300">
              <a:solidFill>
                <a:srgbClr val="01A9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480601" y="5842731"/>
            <a:ext cx="2423026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CONFIDENTIAL AND PROPRIETARY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Any use of this material without specific permisión of Revenue, is strictly prohibited.</a:t>
            </a:r>
            <a:endParaRPr b="0" i="0" sz="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198fb9a7c_0_55"/>
          <p:cNvSpPr txBox="1"/>
          <p:nvPr>
            <p:ph type="title"/>
          </p:nvPr>
        </p:nvSpPr>
        <p:spPr>
          <a:xfrm>
            <a:off x="554723" y="126500"/>
            <a:ext cx="539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META MENSUAL - TOTAL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72" name="Google Shape;72;g39198fb9a7c_0_55"/>
          <p:cNvSpPr txBox="1"/>
          <p:nvPr/>
        </p:nvSpPr>
        <p:spPr>
          <a:xfrm>
            <a:off x="1928038" y="1496275"/>
            <a:ext cx="3758100" cy="384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PE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LEADS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9198fb9a7c_0_55"/>
          <p:cNvSpPr txBox="1"/>
          <p:nvPr/>
        </p:nvSpPr>
        <p:spPr>
          <a:xfrm>
            <a:off x="6769662" y="1408800"/>
            <a:ext cx="3810000" cy="384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PE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PRESUPUESTO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g39198fb9a7c_0_55"/>
          <p:cNvCxnSpPr/>
          <p:nvPr/>
        </p:nvCxnSpPr>
        <p:spPr>
          <a:xfrm>
            <a:off x="6204713" y="1258575"/>
            <a:ext cx="0" cy="381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5" name="Google Shape;75;g39198fb9a7c_0_55"/>
          <p:cNvSpPr txBox="1"/>
          <p:nvPr/>
        </p:nvSpPr>
        <p:spPr>
          <a:xfrm>
            <a:off x="1928038" y="3323600"/>
            <a:ext cx="3758100" cy="384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PE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LEADS CALIFICADOS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9198fb9a7c_0_55"/>
          <p:cNvCxnSpPr/>
          <p:nvPr/>
        </p:nvCxnSpPr>
        <p:spPr>
          <a:xfrm flipH="1" rot="10800000">
            <a:off x="1576950" y="3159063"/>
            <a:ext cx="9370500" cy="10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7" name="Google Shape;77;g39198fb9a7c_0_55"/>
          <p:cNvSpPr txBox="1"/>
          <p:nvPr/>
        </p:nvSpPr>
        <p:spPr>
          <a:xfrm>
            <a:off x="6752838" y="3323625"/>
            <a:ext cx="3843600" cy="384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PE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FACTURACIÓN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" name="Google Shape;78;g39198fb9a7c_0_55"/>
          <p:cNvGraphicFramePr/>
          <p:nvPr/>
        </p:nvGraphicFramePr>
        <p:xfrm>
          <a:off x="1928038" y="21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{EE62198B-88E3-438B-BC73-3978CD4393B8}</a:tableStyleId>
              </a:tblPr>
              <a:tblGrid>
                <a:gridCol w="900675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Logrado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8:0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Facebook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{{LEADS_FB_REAL}}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8:1:1"/>
                      </a:ext>
                    </a:extLst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{{LEADS_FB_META}}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8:1:2"/>
                      </a:ext>
                    </a:extLst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{{LEADS_FB_LOG}}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8:1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Google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{{LEADS_GOOGLE_REAL}}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8:2:1"/>
                      </a:ext>
                    </a:extLst>
                  </a:tcPr>
                </a:tc>
                <a:tc vMerge="1"/>
                <a:tc v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{{LEADS_TOTAL_REAL}}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8:3:1"/>
                      </a:ext>
                    </a:extLst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79" name="Google Shape;79;g39198fb9a7c_0_55"/>
          <p:cNvGraphicFramePr/>
          <p:nvPr/>
        </p:nvGraphicFramePr>
        <p:xfrm>
          <a:off x="720925" y="40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{EE62198B-88E3-438B-BC73-3978CD4393B8}</a:tableStyleId>
              </a:tblPr>
              <a:tblGrid>
                <a:gridCol w="1419225"/>
                <a:gridCol w="1323975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Calificados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Logrado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79: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calificados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{{LEADS_CAL_PCT}}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{{LEADS_CAL_META}}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{{LEADS_CAL_LOG}}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79:1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{{LEADS_CAL_PCT}}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{{LEADS_CAL_REAL}}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{{LEADS_CAL_META}}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{{LEADS_CAL_LOG}}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79:2:4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80" name="Google Shape;80;g39198fb9a7c_0_55"/>
          <p:cNvGraphicFramePr/>
          <p:nvPr/>
        </p:nvGraphicFramePr>
        <p:xfrm>
          <a:off x="6926075" y="4057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{EE62198B-88E3-438B-BC73-3978CD4393B8}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Logrado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0:0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Facturación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{{FACT_META}}</a:t>
                      </a:r>
                      <a:endParaRPr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{{FACT_LOG}}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0:1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{{FACT_REAL}}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PE" sz="10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{{FACT_META}}</a:t>
                      </a:r>
                      <a:endParaRPr b="1" sz="10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{{FACT_LOG}}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0:2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81" name="Google Shape;81;g39198fb9a7c_0_55"/>
          <p:cNvGraphicFramePr/>
          <p:nvPr/>
        </p:nvGraphicFramePr>
        <p:xfrm>
          <a:off x="6826188" y="193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1466575"/>
                <a:gridCol w="847725"/>
                <a:gridCol w="847725"/>
                <a:gridCol w="847725"/>
              </a:tblGrid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Logrado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1:0:3"/>
                      </a:ext>
                    </a:extLst>
                  </a:tcPr>
                </a:tc>
              </a:tr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 Perfo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{{PRES_META_PERFO_REAL}}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{{PRES_META_PERFO_META}}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{{PRES_META_PERFO_LOG}}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1:3"/>
                      </a:ext>
                    </a:extLst>
                  </a:tcPr>
                </a:tc>
              </a:tr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 Branding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{{PRES_META_BRAND_REAL}}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{{PRES_META_BRAND_META}}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{{PRES_META_BRAND_LOG}}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2:3"/>
                      </a:ext>
                    </a:extLst>
                  </a:tcPr>
                </a:tc>
              </a:tr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Google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{{PRES_GOOGLE_REAL}}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{{PRES_GOOGLE_META}}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{{PRES_GOOGLE_LOG}}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3:3"/>
                      </a:ext>
                    </a:extLst>
                  </a:tcPr>
                </a:tc>
              </a:tr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Tik Tok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{{PRES_TIKTOK_REAL}}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{{PRES_TIKTOK_META}}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{{PRES_TIKTOK_LOG}}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1:4:3"/>
                      </a:ext>
                    </a:extLst>
                  </a:tcPr>
                </a:tc>
              </a:tr>
              <a:tr h="18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{{PRES_TOTAL_REAL}}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{{PRES_TOTAL_META}}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{{PRES_TOTAL_LOG}}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1:5:3"/>
                      </a:ext>
                    </a:extLst>
                  </a:tcPr>
                </a:tc>
              </a:tr>
            </a:tbl>
          </a:graphicData>
        </a:graphic>
      </p:graphicFrame>
      <p:cxnSp>
        <p:nvCxnSpPr>
          <p:cNvPr id="82" name="Google Shape;82;g39198fb9a7c_0_55"/>
          <p:cNvCxnSpPr/>
          <p:nvPr/>
        </p:nvCxnSpPr>
        <p:spPr>
          <a:xfrm flipH="1" rot="10800000">
            <a:off x="1676850" y="4908026"/>
            <a:ext cx="9370500" cy="10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3" name="Google Shape;83;g39198fb9a7c_0_55"/>
          <p:cNvSpPr txBox="1"/>
          <p:nvPr/>
        </p:nvSpPr>
        <p:spPr>
          <a:xfrm>
            <a:off x="4299737" y="5035763"/>
            <a:ext cx="3810000" cy="384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s-PE" sz="1300">
                <a:solidFill>
                  <a:srgbClr val="FFFFFF"/>
                </a:solidFill>
              </a:rPr>
              <a:t>VENTAS</a:t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" name="Google Shape;84;g39198fb9a7c_0_55"/>
          <p:cNvGraphicFramePr/>
          <p:nvPr/>
        </p:nvGraphicFramePr>
        <p:xfrm>
          <a:off x="3880625" y="55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1419225"/>
                <a:gridCol w="1323975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Logrado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84:0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VENTAS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{{VENTAS_META}}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{{VENTAS_LOG}}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4:1:3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{{VENTAS_REAL}}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{{VENTAS_META}}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{{VENTAS_LOG}}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84:2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032e05498_4_76"/>
          <p:cNvSpPr txBox="1"/>
          <p:nvPr>
            <p:ph type="title"/>
          </p:nvPr>
        </p:nvSpPr>
        <p:spPr>
          <a:xfrm>
            <a:off x="554723" y="126500"/>
            <a:ext cx="539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 xml:space="preserve">OVERVIEW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0" name="Google Shape;90;g27032e05498_4_76"/>
          <p:cNvSpPr txBox="1"/>
          <p:nvPr/>
        </p:nvSpPr>
        <p:spPr>
          <a:xfrm>
            <a:off x="692150" y="3741100"/>
            <a:ext cx="10167000" cy="24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{{COMENTARIO_INCENTIVOS}}</a:t>
            </a:r>
            <a:b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i="0" lang="es-PE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abril se observa un crecimiento sostenido vs marzo, con mayor volumen y mejor eficiencia general. Se alcanzan 1,039 leads vs 1,002, manteniendo escalabilidad con control de costos.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 Ads lidera el rendimiento, especialmente en Lima, donde se mantiene un alto volumen de leads (716 vs 742) mejorando el CPL ($0.51 vs $0.58), evidenciando optimización efectiva.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Trujillo B2C muestra un crecimiento sólido (246 vs 160) con CPL competitivo ($0.60 vs $0.67), consolidándose como plaza de escalamiento.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nivel global, el CPL mejora ($0.60 vs $0.64) pese a mayor inversión, confirmando eficiencia.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general, hay un crecimiento estable con control de costos y mejor rendimiento global.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1" name="Google Shape;91;g27032e05498_4_76"/>
          <p:cNvGraphicFramePr/>
          <p:nvPr/>
        </p:nvGraphicFramePr>
        <p:xfrm>
          <a:off x="1184600" y="182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1200150"/>
                <a:gridCol w="1228725"/>
                <a:gridCol w="1504950"/>
                <a:gridCol w="1181100"/>
                <a:gridCol w="952500"/>
                <a:gridCol w="1209675"/>
                <a:gridCol w="952500"/>
                <a:gridCol w="952500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Campaña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07 de abril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07 de marzo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9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9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Inversion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91:0:7"/>
                      </a:ext>
                    </a:extLst>
                  </a:tcPr>
                </a:tc>
              </a:tr>
              <a:tr h="2000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Meta ads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1:7"/>
                      </a:ext>
                    </a:extLst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Trujillo B2C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2:7"/>
                      </a:ext>
                    </a:extLst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Trujillo B2B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3:7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Google ads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{{LEADS_GOOGLE_REAL}}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4:7"/>
                      </a:ext>
                    </a:extLst>
                  </a:tcPr>
                </a:tc>
              </a:tr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Total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0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{{TOTAL_LEADS_ACT}}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{{TOTAL_INV_ACT}}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{{TOTAL_LEADS_ANT}}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{{TOTAL_CPL_ANT}}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{{TOTAL_INV_ANT}}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1:5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6f58bdc0d_0_6"/>
          <p:cNvSpPr txBox="1"/>
          <p:nvPr>
            <p:ph type="title"/>
          </p:nvPr>
        </p:nvSpPr>
        <p:spPr>
          <a:xfrm>
            <a:off x="554726" y="126500"/>
            <a:ext cx="85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OVERVIEW METRICAS SECUNDARIAS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7" name="Google Shape;97;g396f58bdc0d_0_6"/>
          <p:cNvSpPr txBox="1"/>
          <p:nvPr/>
        </p:nvSpPr>
        <p:spPr>
          <a:xfrm>
            <a:off x="925575" y="3356225"/>
            <a:ext cx="10167000" cy="30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{{COMENTARIO_METRICAS_SEC}}</a:t>
            </a:r>
            <a:b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i="0" lang="es-PE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abril se observa un desempeño sólido en métricas secundarias, reflejando una mejora en la calidad del tráfico y la interacción. El CTR único total se mantiene en 1.30%, evidenciando anuncios relevantes y alineados con la audiencia.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Lima destaca con un CTR único de 1.46% y el mayor porcentaje de mensajes (29.20%), confirmando una alta intención de contacto y efectividad en el mensaje.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Trujillo B2C mantiene un buen nivel de interacción con CTR único de 1.20% y 23.01% en tasa de mensajes, consolidando un tráfico calificado y consistente.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nivel de costos, el CPM se mantiene eficiente ($1.16 total), con Trujillo B2C destacando por su bajo costo ($0.97), lo que favorece el alcance a menor inversión.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general, las métricas reflejan una buena conexión entre creatividad, segmentación y propuesta de valor, impulsando tráfico de calidad y alto nivel de interacción.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8" name="Google Shape;98;g396f58bdc0d_0_6"/>
          <p:cNvGraphicFramePr/>
          <p:nvPr/>
        </p:nvGraphicFramePr>
        <p:xfrm>
          <a:off x="406075" y="165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  <a:gridCol w="862000"/>
              </a:tblGrid>
              <a:tr h="35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Campaña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abril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Inversion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Mensajes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 enlace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Clics unico enlace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unico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Alcance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Impresiones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98:0:12"/>
                      </a:ext>
                    </a:extLst>
                  </a:tcPr>
                </a:tc>
              </a:tr>
              <a:tr h="19355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Meta ads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2.693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2.452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{{LIMA_CTR_UNI}}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{{LIMA_ALCANCE}}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{{LIMA_CPM}}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1:12"/>
                      </a:ext>
                    </a:extLst>
                  </a:tcPr>
                </a:tc>
              </a:tr>
              <a:tr h="193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Trujillo B2C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1.183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1.069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{{TRUJ_B2C_CTR_UNI}}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{{TRUJ_B2C_ALCANCE}}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{{TRUJ_B2C_CPM}}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2:12"/>
                      </a:ext>
                    </a:extLst>
                  </a:tcPr>
                </a:tc>
              </a:tr>
              <a:tr h="193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Trujillo B2B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{{TRUJ_B2B_CTR_UNI}}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{{TRUJ_B2B_ALCANCE}}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{{TRUJ_B2B_CPM}}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3:12"/>
                      </a:ext>
                    </a:extLst>
                  </a:tcPr>
                </a:tc>
              </a:tr>
              <a:tr h="1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Google ads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9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{{LEADS_GOOGLE_REAL}}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{{GOOGLE_IMPRESIONES}}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4:12"/>
                      </a:ext>
                    </a:extLst>
                  </a:tcPr>
                </a:tc>
              </a:tr>
              <a:tr h="19355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Total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0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{{TOTAL_LEADS_ACT}}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{{TOTAL_INV_ACT}}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{{TOTAL_PCT_MSJS}}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4.345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3.789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{{TOTAL_CTR}}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{{TOTAL_CTR_UNI}}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{{TOTAL_ALCANCE}}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{{TOTAL_IMPRESIONES}}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{{TOTAL_CPM}}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8:5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6f58bdc0d_0_14"/>
          <p:cNvSpPr txBox="1"/>
          <p:nvPr>
            <p:ph type="title"/>
          </p:nvPr>
        </p:nvSpPr>
        <p:spPr>
          <a:xfrm>
            <a:off x="554723" y="126500"/>
            <a:ext cx="539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 xml:space="preserve">CAMPAÑAS DE INCENTIVOS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04" name="Google Shape;104;g396f58bdc0d_0_14"/>
          <p:cNvSpPr txBox="1"/>
          <p:nvPr/>
        </p:nvSpPr>
        <p:spPr>
          <a:xfrm>
            <a:off x="840250" y="4344675"/>
            <a:ext cx="101670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{{COMENTARIO_INCENTIVOS}}</a:t>
            </a:r>
            <a:b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i="0" lang="es-PE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abril se observa un crecimiento claro vs marzo, duplicando los leads (99 vs 51) con mayor inversión y buena eficiencia. Incentivos Lima lidera con fuerte incremento de volumen (67 vs 27) y CPL competitivo ($0.54). Trujillo también crece (32 vs 24), aportando al resultado global. En general, hay escalamiento con control de costos y buen rendimiento.</a:t>
            </a:r>
            <a:b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5" name="Google Shape;105;g396f58bdc0d_0_14"/>
          <p:cNvGraphicFramePr/>
          <p:nvPr/>
        </p:nvGraphicFramePr>
        <p:xfrm>
          <a:off x="1380325" y="202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1200150"/>
                <a:gridCol w="1228725"/>
                <a:gridCol w="1409700"/>
                <a:gridCol w="1181100"/>
                <a:gridCol w="952500"/>
                <a:gridCol w="1209675"/>
                <a:gridCol w="952500"/>
                <a:gridCol w="952500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0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Campaña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0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7 de abril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0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0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Inversion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0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7 de marzo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10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10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Inversion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  <a:extLst>
                      <a:ext uri="http://customooxmlschemas.google.com/">
                        <go:slidesCustomData xmlns:go="http://customooxmlschemas.google.com/" cellId="105:0:7"/>
                      </a:ext>
                    </a:extLst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Meta ads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Incentivos trujillo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10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1:7"/>
                      </a:ext>
                    </a:extLst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Incentivos 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10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{{INC_LIMA_LEADS_ANT}}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{{INC_LIMA_INV_ANT}}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2:7"/>
                      </a:ext>
                    </a:extLst>
                  </a:tcPr>
                </a:tc>
              </a:tr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Total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0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{{INC_TOTAL_LEADS_ACT}}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{{INC_TOTAL_INV_ACT}}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{{INC_TOTAL_LEADS_ANT}}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{{INC_TOTAL_CPL_ANT}}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{{INC_TOTAL_INV_ANT}}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5:3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f58bdc0d_0_22"/>
          <p:cNvSpPr txBox="1"/>
          <p:nvPr>
            <p:ph type="title"/>
          </p:nvPr>
        </p:nvSpPr>
        <p:spPr>
          <a:xfrm>
            <a:off x="554726" y="126500"/>
            <a:ext cx="85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 xml:space="preserve">OVERVIEW INCENTIVOS </a:t>
            </a:r>
            <a:r>
              <a:rPr lang="es-PE">
                <a:solidFill>
                  <a:srgbClr val="0000FF"/>
                </a:solidFill>
              </a:rPr>
              <a:t>MÉTRICAS</a:t>
            </a:r>
            <a:r>
              <a:rPr lang="es-PE">
                <a:solidFill>
                  <a:srgbClr val="0000FF"/>
                </a:solidFill>
              </a:rPr>
              <a:t xml:space="preserve"> SECUNDARIAS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1" name="Google Shape;111;g396f58bdc0d_0_22"/>
          <p:cNvSpPr txBox="1"/>
          <p:nvPr/>
        </p:nvSpPr>
        <p:spPr>
          <a:xfrm>
            <a:off x="939625" y="4082275"/>
            <a:ext cx="10167000" cy="1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Campañas de Incentivos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{{COMENTARIO_INC_METRICAS}}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CTR único se mantiene sólido (1.01%), con Lima liderando (1.34%), mostrando buena conexión entre anuncio y audiencia.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CPM se mantiene eficiente ($1.19), permitiendo buen alcance a bajo costo.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general, se consolida un tráfico relevante con buena interacción y eficiencia.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2" name="Google Shape;112;g396f58bdc0d_0_22"/>
          <p:cNvGraphicFramePr/>
          <p:nvPr/>
        </p:nvGraphicFramePr>
        <p:xfrm>
          <a:off x="56825" y="207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{4E9503EB-27C4-41CC-9937-C88961272CBF}</a:tableStyleId>
              </a:tblPr>
              <a:tblGrid>
                <a:gridCol w="882800"/>
                <a:gridCol w="1140250"/>
                <a:gridCol w="882800"/>
                <a:gridCol w="882800"/>
                <a:gridCol w="882800"/>
                <a:gridCol w="882800"/>
                <a:gridCol w="882800"/>
                <a:gridCol w="882800"/>
                <a:gridCol w="882800"/>
                <a:gridCol w="882800"/>
                <a:gridCol w="882800"/>
                <a:gridCol w="882800"/>
                <a:gridCol w="882800"/>
              </a:tblGrid>
              <a:tr h="647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Campaña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Leads totales Marzo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CPL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Mensajes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 enlace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Clics unico enlace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unico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Alcance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Impresiones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  <a:extLst>
                      <a:ext uri="http://customooxmlschemas.google.com/">
                        <go:slidesCustomData xmlns:go="http://customooxmlschemas.google.com/" cellId="112:0:12"/>
                      </a:ext>
                    </a:extLst>
                  </a:tcPr>
                </a:tc>
              </a:tr>
              <a:tr h="4466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Meta ads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Incentivos trujillo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11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103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{{INC_TRUJ_CTR_UNI}}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{{INC_TRUJ_ALCANCE}}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{{INC_TRUJ_CPM}}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12"/>
                      </a:ext>
                    </a:extLst>
                  </a:tcPr>
                </a:tc>
              </a:tr>
              <a:tr h="4466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Incentivos Lima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11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{{INC_LIMA_LEADS_ACT}}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{{INC_LIMA_INV_ACT}}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{{INC_LIMA_PCT_MSJS}}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{{INC_LIMA_CTR}}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{{INC_LIMA_CTR_UNI}}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{{INC_LIMA_ALCANCE}}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{{INC_LIMA_IMPRESIONES}}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{{INC_LIMA_CPM}}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12"/>
                      </a:ext>
                    </a:extLst>
                  </a:tcPr>
                </a:tc>
              </a:tr>
              <a:tr h="2456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Total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0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{{INC_TOTAL_LEADS_ACT}}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{{INC_TOTAL_CPL_ACT}}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{{INC_TOTAL_INV_ACT}}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{{INC_TOTAL_PCT_MSJS}}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284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{{INC_TOTAL_CTR}}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{{INC_TOTAL_CTR_UNI}}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{{INC_TOTAL_ALCANCE}}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{{INC_TOTAL_IMPRESIONES}}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{{INC_TOTAL_CPM}}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20f0b27d_0_0"/>
          <p:cNvSpPr txBox="1"/>
          <p:nvPr>
            <p:ph type="title"/>
          </p:nvPr>
        </p:nvSpPr>
        <p:spPr>
          <a:xfrm>
            <a:off x="554723" y="126500"/>
            <a:ext cx="539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CTR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8" name="Google Shape;118;g39620f0b27d_0_0"/>
          <p:cNvSpPr txBox="1"/>
          <p:nvPr/>
        </p:nvSpPr>
        <p:spPr>
          <a:xfrm>
            <a:off x="690325" y="5986000"/>
            <a:ext cx="43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PE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Ratio: Clics (enlace) / Impresiones</a:t>
            </a:r>
            <a:endParaRPr b="1" i="0" sz="12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" name="Google Shape;119;g39620f0b27d_0_0" title="Gráfic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175" y="1443625"/>
            <a:ext cx="6979651" cy="4331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20f0b27d_0_7"/>
          <p:cNvSpPr txBox="1"/>
          <p:nvPr>
            <p:ph type="title"/>
          </p:nvPr>
        </p:nvSpPr>
        <p:spPr>
          <a:xfrm>
            <a:off x="554725" y="126500"/>
            <a:ext cx="11140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Tasa de mensajes / Clic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5" name="Google Shape;125;g39620f0b27d_0_7"/>
          <p:cNvSpPr txBox="1"/>
          <p:nvPr/>
        </p:nvSpPr>
        <p:spPr>
          <a:xfrm>
            <a:off x="624050" y="5426150"/>
            <a:ext cx="43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Ratio: Mensajes / clics ( enlace )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9620f0b27d_0_7" title="Gráfic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075" y="1202688"/>
            <a:ext cx="9554752" cy="39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032e05498_4_6"/>
          <p:cNvSpPr txBox="1"/>
          <p:nvPr>
            <p:ph type="title"/>
          </p:nvPr>
        </p:nvSpPr>
        <p:spPr>
          <a:xfrm>
            <a:off x="554727" y="126500"/>
            <a:ext cx="10355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 xml:space="preserve">Performance general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2" name="Google Shape;132;g27032e05498_4_6"/>
          <p:cNvSpPr txBox="1"/>
          <p:nvPr>
            <p:ph type="title"/>
          </p:nvPr>
        </p:nvSpPr>
        <p:spPr>
          <a:xfrm>
            <a:off x="660301" y="780325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0" lang="es-PE" sz="1400">
                <a:solidFill>
                  <a:srgbClr val="0000FF"/>
                </a:solidFill>
              </a:rPr>
              <a:t>(01/03 - 07/04)</a:t>
            </a:r>
            <a:endParaRPr b="0" sz="1400">
              <a:solidFill>
                <a:srgbClr val="0000FF"/>
              </a:solidFill>
            </a:endParaRPr>
          </a:p>
        </p:txBody>
      </p:sp>
      <p:pic>
        <p:nvPicPr>
          <p:cNvPr id="133" name="Google Shape;133;g27032e05498_4_6" title="Gráfico"/>
          <p:cNvPicPr preferRelativeResize="0"/>
          <p:nvPr/>
        </p:nvPicPr>
        <p:blipFill rotWithShape="1">
          <a:blip r:embed="rId3">
            <a:alphaModFix/>
          </a:blip>
          <a:srcRect b="0" l="11407" r="11404" t="0"/>
          <a:stretch/>
        </p:blipFill>
        <p:spPr>
          <a:xfrm>
            <a:off x="1051700" y="1408225"/>
            <a:ext cx="4524624" cy="36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7032e05498_4_6" title="Gráfico"/>
          <p:cNvPicPr preferRelativeResize="0"/>
          <p:nvPr/>
        </p:nvPicPr>
        <p:blipFill rotWithShape="1">
          <a:blip r:embed="rId4">
            <a:alphaModFix/>
          </a:blip>
          <a:srcRect b="0" l="15498" r="15496" t="0"/>
          <a:stretch/>
        </p:blipFill>
        <p:spPr>
          <a:xfrm>
            <a:off x="6982023" y="1408225"/>
            <a:ext cx="4045128" cy="36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7032e05498_4_6"/>
          <p:cNvSpPr txBox="1"/>
          <p:nvPr/>
        </p:nvSpPr>
        <p:spPr>
          <a:xfrm>
            <a:off x="2208100" y="5295725"/>
            <a:ext cx="804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PE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Meta Ads concentró el mayor volumen con </a:t>
            </a:r>
            <a:r>
              <a:rPr lang="es-PE" sz="1200">
                <a:latin typeface="Montserrat"/>
                <a:ea typeface="Montserrat"/>
                <a:cs typeface="Montserrat"/>
                <a:sym typeface="Montserrat"/>
              </a:rPr>
              <a:t xml:space="preserve">1263 </a:t>
            </a:r>
            <a:r>
              <a:rPr b="0" i="0" lang="es-PE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leads y un CPL eficiente de $0.</a:t>
            </a:r>
            <a:r>
              <a:rPr lang="es-PE" sz="1200">
                <a:latin typeface="Montserrat"/>
                <a:ea typeface="Montserrat"/>
                <a:cs typeface="Montserrat"/>
                <a:sym typeface="Montserrat"/>
              </a:rPr>
              <a:t>{{TRUJ_B2B_LEADS_ANT}}</a:t>
            </a:r>
            <a:r>
              <a:rPr b="0" i="0" lang="es-PE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impulsando la captación a escala. Google Ads generó </a:t>
            </a:r>
            <a:r>
              <a:rPr lang="es-PE" sz="1200">
                <a:latin typeface="Montserrat"/>
                <a:ea typeface="Montserrat"/>
                <a:cs typeface="Montserrat"/>
                <a:sym typeface="Montserrat"/>
              </a:rPr>
              <a:t xml:space="preserve">28 </a:t>
            </a:r>
            <a:r>
              <a:rPr b="0" i="0" lang="es-PE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leads con un CPL de $1.</a:t>
            </a:r>
            <a:r>
              <a:rPr lang="es-PE" sz="1200">
                <a:latin typeface="Montserrat"/>
                <a:ea typeface="Montserrat"/>
                <a:cs typeface="Montserrat"/>
                <a:sym typeface="Montserrat"/>
              </a:rPr>
              <a:t>97</a:t>
            </a:r>
            <a:r>
              <a:rPr b="0" i="0" lang="es-PE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, aportando tráfico de mayor intención y complementando el mix con calidad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17c78a67_1_3"/>
          <p:cNvSpPr txBox="1"/>
          <p:nvPr>
            <p:ph type="title"/>
          </p:nvPr>
        </p:nvSpPr>
        <p:spPr>
          <a:xfrm>
            <a:off x="554727" y="126500"/>
            <a:ext cx="10355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FUNNEL DE FACEBOOK ADS - Mensajes a Whatsapp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41" name="Google Shape;141;g3a117c78a67_1_3"/>
          <p:cNvSpPr txBox="1"/>
          <p:nvPr/>
        </p:nvSpPr>
        <p:spPr>
          <a:xfrm>
            <a:off x="829900" y="1418525"/>
            <a:ext cx="102306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25" lIns="92725" spcFirstLastPara="1" rIns="92725" wrap="square" tIns="92725">
            <a:noAutofit/>
          </a:bodyPr>
          <a:lstStyle/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</a:pPr>
            <a:r>
              <a:rPr b="1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CPL (Costo por lead):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Aumenta en un 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>-15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>62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% sin embargo se mantiene estable con cpl sólido de 0.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>57</a:t>
            </a:r>
            <a:br>
              <a:rPr b="1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Leads :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Obtenemos un volumen de leads sólido de 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 xml:space="preserve">1129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en la semana 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mayor en comparación de la semana 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 xml:space="preserve">4 de marzo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</a:t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a117c78a67_1_3"/>
          <p:cNvSpPr txBox="1"/>
          <p:nvPr>
            <p:ph type="title"/>
          </p:nvPr>
        </p:nvSpPr>
        <p:spPr>
          <a:xfrm>
            <a:off x="660301" y="780325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0" lang="es-PE" sz="1400">
                <a:solidFill>
                  <a:srgbClr val="0000FF"/>
                </a:solidFill>
              </a:rPr>
              <a:t>({{PERIODO_INICIO}} - {{PERIODO_FIN}})</a:t>
            </a:r>
            <a:endParaRPr b="0" sz="1400">
              <a:solidFill>
                <a:srgbClr val="0000FF"/>
              </a:solidFill>
            </a:endParaRPr>
          </a:p>
        </p:txBody>
      </p:sp>
      <p:sp>
        <p:nvSpPr>
          <p:cNvPr id="143" name="Google Shape;143;g3a117c78a67_1_3"/>
          <p:cNvSpPr/>
          <p:nvPr/>
        </p:nvSpPr>
        <p:spPr>
          <a:xfrm>
            <a:off x="5196925" y="3364375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15.62 %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g3a117c78a67_1_3"/>
          <p:cNvSpPr/>
          <p:nvPr/>
        </p:nvSpPr>
        <p:spPr>
          <a:xfrm>
            <a:off x="5196925" y="4258050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 +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18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.22 %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g3a117c78a67_1_3"/>
          <p:cNvSpPr/>
          <p:nvPr/>
        </p:nvSpPr>
        <p:spPr>
          <a:xfrm>
            <a:off x="5196925" y="5151725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-13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a117c78a67_1_3"/>
          <p:cNvSpPr/>
          <p:nvPr/>
        </p:nvSpPr>
        <p:spPr>
          <a:xfrm rot="10800000">
            <a:off x="1039018" y="3253012"/>
            <a:ext cx="3210900" cy="759000"/>
          </a:xfrm>
          <a:prstGeom prst="trapezoid">
            <a:avLst>
              <a:gd fmla="val 25000" name="adj"/>
            </a:avLst>
          </a:prstGeom>
          <a:solidFill>
            <a:srgbClr val="E0010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a117c78a67_1_3"/>
          <p:cNvSpPr/>
          <p:nvPr/>
        </p:nvSpPr>
        <p:spPr>
          <a:xfrm rot="10800000">
            <a:off x="1273760" y="4098133"/>
            <a:ext cx="2723400" cy="766500"/>
          </a:xfrm>
          <a:prstGeom prst="trapezoid">
            <a:avLst>
              <a:gd fmla="val 25000" name="adj"/>
            </a:avLst>
          </a:prstGeom>
          <a:solidFill>
            <a:srgbClr val="F57B1F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a117c78a67_1_3"/>
          <p:cNvSpPr/>
          <p:nvPr/>
        </p:nvSpPr>
        <p:spPr>
          <a:xfrm rot="10800000">
            <a:off x="1529666" y="4950748"/>
            <a:ext cx="2229600" cy="766500"/>
          </a:xfrm>
          <a:prstGeom prst="trapezoid">
            <a:avLst>
              <a:gd fmla="val 25000" name="adj"/>
            </a:avLst>
          </a:prstGeom>
          <a:solidFill>
            <a:srgbClr val="FFD31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a117c78a67_1_3"/>
          <p:cNvSpPr txBox="1"/>
          <p:nvPr/>
        </p:nvSpPr>
        <p:spPr>
          <a:xfrm>
            <a:off x="1417026" y="3263525"/>
            <a:ext cx="245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644</a:t>
            </a: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a117c78a67_1_3"/>
          <p:cNvSpPr txBox="1"/>
          <p:nvPr/>
        </p:nvSpPr>
        <p:spPr>
          <a:xfrm>
            <a:off x="2052246" y="3679770"/>
            <a:ext cx="116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PE" sz="10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a117c78a67_1_3"/>
          <p:cNvSpPr txBox="1"/>
          <p:nvPr/>
        </p:nvSpPr>
        <p:spPr>
          <a:xfrm>
            <a:off x="1838744" y="4097075"/>
            <a:ext cx="15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{{FB_LEADS_ACT}}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a117c78a67_1_3"/>
          <p:cNvSpPr txBox="1"/>
          <p:nvPr/>
        </p:nvSpPr>
        <p:spPr>
          <a:xfrm>
            <a:off x="2264891" y="4527811"/>
            <a:ext cx="8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g3a117c78a67_1_3"/>
          <p:cNvSpPr txBox="1"/>
          <p:nvPr/>
        </p:nvSpPr>
        <p:spPr>
          <a:xfrm>
            <a:off x="1911866" y="4963016"/>
            <a:ext cx="1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$0.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g3a117c78a67_1_3"/>
          <p:cNvSpPr txBox="1"/>
          <p:nvPr/>
        </p:nvSpPr>
        <p:spPr>
          <a:xfrm>
            <a:off x="1039032" y="2794752"/>
            <a:ext cx="32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PE" sz="1799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Abril </a:t>
            </a:r>
            <a:r>
              <a:rPr b="1" i="0" lang="es-PE" sz="1799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Semana </a:t>
            </a:r>
            <a:r>
              <a:rPr b="1" lang="es-PE" sz="1799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1799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g3a117c78a67_1_3"/>
          <p:cNvSpPr txBox="1"/>
          <p:nvPr/>
        </p:nvSpPr>
        <p:spPr>
          <a:xfrm>
            <a:off x="2333828" y="5391838"/>
            <a:ext cx="6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CPL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a117c78a67_1_3"/>
          <p:cNvSpPr/>
          <p:nvPr/>
        </p:nvSpPr>
        <p:spPr>
          <a:xfrm rot="10800000">
            <a:off x="8250618" y="3179387"/>
            <a:ext cx="3210900" cy="759000"/>
          </a:xfrm>
          <a:prstGeom prst="trapezoid">
            <a:avLst>
              <a:gd fmla="val 25000" name="adj"/>
            </a:avLst>
          </a:prstGeom>
          <a:solidFill>
            <a:srgbClr val="E0010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a117c78a67_1_3"/>
          <p:cNvSpPr/>
          <p:nvPr/>
        </p:nvSpPr>
        <p:spPr>
          <a:xfrm rot="10800000">
            <a:off x="8485360" y="4024508"/>
            <a:ext cx="2723400" cy="766500"/>
          </a:xfrm>
          <a:prstGeom prst="trapezoid">
            <a:avLst>
              <a:gd fmla="val 25000" name="adj"/>
            </a:avLst>
          </a:prstGeom>
          <a:solidFill>
            <a:srgbClr val="F57B1F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a117c78a67_1_3"/>
          <p:cNvSpPr/>
          <p:nvPr/>
        </p:nvSpPr>
        <p:spPr>
          <a:xfrm rot="10800000">
            <a:off x="8741266" y="4877123"/>
            <a:ext cx="2229600" cy="766500"/>
          </a:xfrm>
          <a:prstGeom prst="trapezoid">
            <a:avLst>
              <a:gd fmla="val 25000" name="adj"/>
            </a:avLst>
          </a:prstGeom>
          <a:solidFill>
            <a:srgbClr val="FFD31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a117c78a67_1_3"/>
          <p:cNvSpPr txBox="1"/>
          <p:nvPr/>
        </p:nvSpPr>
        <p:spPr>
          <a:xfrm>
            <a:off x="8628626" y="3189900"/>
            <a:ext cx="245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{{FB_INV_ANT}}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a117c78a67_1_3"/>
          <p:cNvSpPr txBox="1"/>
          <p:nvPr/>
        </p:nvSpPr>
        <p:spPr>
          <a:xfrm>
            <a:off x="9263846" y="3606145"/>
            <a:ext cx="116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PE" sz="10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a117c78a67_1_3"/>
          <p:cNvSpPr txBox="1"/>
          <p:nvPr/>
        </p:nvSpPr>
        <p:spPr>
          <a:xfrm>
            <a:off x="9050344" y="4023450"/>
            <a:ext cx="15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{{FB_LEADS_ANT}}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g3a117c78a67_1_3"/>
          <p:cNvSpPr txBox="1"/>
          <p:nvPr/>
        </p:nvSpPr>
        <p:spPr>
          <a:xfrm>
            <a:off x="9476491" y="4454186"/>
            <a:ext cx="8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a117c78a67_1_3"/>
          <p:cNvSpPr txBox="1"/>
          <p:nvPr/>
        </p:nvSpPr>
        <p:spPr>
          <a:xfrm>
            <a:off x="9123466" y="4889391"/>
            <a:ext cx="1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{{FB_CPL_ANT}}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a117c78a67_1_3"/>
          <p:cNvSpPr txBox="1"/>
          <p:nvPr/>
        </p:nvSpPr>
        <p:spPr>
          <a:xfrm>
            <a:off x="8250632" y="2721127"/>
            <a:ext cx="32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PE" sz="1799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Marzo Semana 4</a:t>
            </a:r>
            <a:endParaRPr b="1" i="0" sz="1799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a117c78a67_1_3"/>
          <p:cNvSpPr txBox="1"/>
          <p:nvPr/>
        </p:nvSpPr>
        <p:spPr>
          <a:xfrm>
            <a:off x="9545428" y="5318213"/>
            <a:ext cx="6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CPL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5fcd75b41_0_3"/>
          <p:cNvSpPr txBox="1"/>
          <p:nvPr>
            <p:ph type="title"/>
          </p:nvPr>
        </p:nvSpPr>
        <p:spPr>
          <a:xfrm>
            <a:off x="554727" y="126500"/>
            <a:ext cx="10355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>FUNNEL DE GOOGLE ADS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1" name="Google Shape;171;g3b5fcd75b41_0_3"/>
          <p:cNvSpPr txBox="1"/>
          <p:nvPr/>
        </p:nvSpPr>
        <p:spPr>
          <a:xfrm>
            <a:off x="829900" y="1418525"/>
            <a:ext cx="102306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25" lIns="92725" spcFirstLastPara="1" rIns="92725" wrap="square" tIns="92725">
            <a:noAutofit/>
          </a:bodyPr>
          <a:lstStyle/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</a:pPr>
            <a:r>
              <a:rPr b="1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CPL (Costo por lead):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Aumento en </a:t>
            </a:r>
            <a:r>
              <a:rPr lang="es-PE" sz="1100">
                <a:latin typeface="Montserrat"/>
                <a:ea typeface="Montserrat"/>
                <a:cs typeface="Montserrat"/>
                <a:sym typeface="Montserrat"/>
              </a:rPr>
              <a:t>12.3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% </a:t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</a:pPr>
            <a:r>
              <a:rPr b="1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Leads : </a:t>
            </a:r>
            <a:r>
              <a:rPr b="0" i="0" lang="es-PE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Tenemos un total de 36 leads en la semana 4 que representa un volumen considerable teniendo en cuenta la inversión de la semana 3  y que son leads con mayor intención de compra </a:t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3b5fcd75b41_0_3"/>
          <p:cNvSpPr txBox="1"/>
          <p:nvPr>
            <p:ph type="title"/>
          </p:nvPr>
        </p:nvSpPr>
        <p:spPr>
          <a:xfrm>
            <a:off x="660301" y="780325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0" lang="es-PE" sz="1400">
                <a:solidFill>
                  <a:srgbClr val="0000FF"/>
                </a:solidFill>
              </a:rPr>
              <a:t>({{PERIODO_INICIO}} - {{PERIODO_FIN}})</a:t>
            </a:r>
            <a:endParaRPr b="0" sz="1400">
              <a:solidFill>
                <a:srgbClr val="0000FF"/>
              </a:solidFill>
            </a:endParaRPr>
          </a:p>
        </p:txBody>
      </p:sp>
      <p:sp>
        <p:nvSpPr>
          <p:cNvPr id="173" name="Google Shape;173;g3b5fcd75b41_0_3"/>
          <p:cNvSpPr/>
          <p:nvPr/>
        </p:nvSpPr>
        <p:spPr>
          <a:xfrm>
            <a:off x="5196925" y="3364375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+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12.3%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b5fcd75b41_0_3"/>
          <p:cNvSpPr/>
          <p:nvPr/>
        </p:nvSpPr>
        <p:spPr>
          <a:xfrm>
            <a:off x="5196925" y="4258050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-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5.2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%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b5fcd75b41_0_3"/>
          <p:cNvSpPr/>
          <p:nvPr/>
        </p:nvSpPr>
        <p:spPr>
          <a:xfrm>
            <a:off x="5196925" y="5151725"/>
            <a:ext cx="1968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vs </a:t>
            </a:r>
            <a:r>
              <a:rPr lang="es-PE">
                <a:latin typeface="Montserrat"/>
                <a:ea typeface="Montserrat"/>
                <a:cs typeface="Montserrat"/>
                <a:sym typeface="Montserrat"/>
              </a:rPr>
              <a:t>+ 10.52</a:t>
            </a:r>
            <a:r>
              <a:rPr b="0" i="0" lang="es-PE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%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b5fcd75b41_0_3"/>
          <p:cNvSpPr/>
          <p:nvPr/>
        </p:nvSpPr>
        <p:spPr>
          <a:xfrm rot="10800000">
            <a:off x="1256193" y="3325212"/>
            <a:ext cx="3210900" cy="759000"/>
          </a:xfrm>
          <a:prstGeom prst="trapezoid">
            <a:avLst>
              <a:gd fmla="val 25000" name="adj"/>
            </a:avLst>
          </a:prstGeom>
          <a:solidFill>
            <a:srgbClr val="E0010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b5fcd75b41_0_3"/>
          <p:cNvSpPr/>
          <p:nvPr/>
        </p:nvSpPr>
        <p:spPr>
          <a:xfrm rot="10800000">
            <a:off x="1490935" y="4170333"/>
            <a:ext cx="2723400" cy="766500"/>
          </a:xfrm>
          <a:prstGeom prst="trapezoid">
            <a:avLst>
              <a:gd fmla="val 25000" name="adj"/>
            </a:avLst>
          </a:prstGeom>
          <a:solidFill>
            <a:srgbClr val="F57B1F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b5fcd75b41_0_3"/>
          <p:cNvSpPr/>
          <p:nvPr/>
        </p:nvSpPr>
        <p:spPr>
          <a:xfrm rot="10800000">
            <a:off x="1746841" y="5022948"/>
            <a:ext cx="2229600" cy="766500"/>
          </a:xfrm>
          <a:prstGeom prst="trapezoid">
            <a:avLst>
              <a:gd fmla="val 25000" name="adj"/>
            </a:avLst>
          </a:prstGeom>
          <a:solidFill>
            <a:srgbClr val="FFD31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b5fcd75b41_0_3"/>
          <p:cNvSpPr txBox="1"/>
          <p:nvPr/>
        </p:nvSpPr>
        <p:spPr>
          <a:xfrm>
            <a:off x="1634201" y="3335725"/>
            <a:ext cx="245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$ 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55</a:t>
            </a: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{{LEADS_GOOGLE_REAL}}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3b5fcd75b41_0_3"/>
          <p:cNvSpPr txBox="1"/>
          <p:nvPr/>
        </p:nvSpPr>
        <p:spPr>
          <a:xfrm>
            <a:off x="2269421" y="3751970"/>
            <a:ext cx="116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PE" sz="10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3b5fcd75b41_0_3"/>
          <p:cNvSpPr txBox="1"/>
          <p:nvPr/>
        </p:nvSpPr>
        <p:spPr>
          <a:xfrm>
            <a:off x="2055919" y="4169275"/>
            <a:ext cx="15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{{LEADS_GOOGLE_REAL}}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b5fcd75b41_0_3"/>
          <p:cNvSpPr txBox="1"/>
          <p:nvPr/>
        </p:nvSpPr>
        <p:spPr>
          <a:xfrm>
            <a:off x="2482066" y="4600011"/>
            <a:ext cx="8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b5fcd75b41_0_3"/>
          <p:cNvSpPr txBox="1"/>
          <p:nvPr/>
        </p:nvSpPr>
        <p:spPr>
          <a:xfrm>
            <a:off x="2129041" y="5035216"/>
            <a:ext cx="1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$1.</a:t>
            </a:r>
            <a:r>
              <a:rPr b="1" lang="es-PE" sz="26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97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b5fcd75b41_0_3"/>
          <p:cNvSpPr txBox="1"/>
          <p:nvPr/>
        </p:nvSpPr>
        <p:spPr>
          <a:xfrm>
            <a:off x="1256207" y="2866952"/>
            <a:ext cx="32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PE" sz="1799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Abril </a:t>
            </a:r>
            <a:r>
              <a:rPr b="1" i="0" lang="es-PE" sz="1799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Semana </a:t>
            </a:r>
            <a:r>
              <a:rPr b="1" lang="es-PE" sz="1799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1799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b5fcd75b41_0_3"/>
          <p:cNvSpPr txBox="1"/>
          <p:nvPr/>
        </p:nvSpPr>
        <p:spPr>
          <a:xfrm>
            <a:off x="2544853" y="5345913"/>
            <a:ext cx="6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CPL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3b5fcd75b41_0_3"/>
          <p:cNvSpPr/>
          <p:nvPr/>
        </p:nvSpPr>
        <p:spPr>
          <a:xfrm rot="10800000">
            <a:off x="8109143" y="3325212"/>
            <a:ext cx="3210900" cy="759000"/>
          </a:xfrm>
          <a:prstGeom prst="trapezoid">
            <a:avLst>
              <a:gd fmla="val 25000" name="adj"/>
            </a:avLst>
          </a:prstGeom>
          <a:solidFill>
            <a:srgbClr val="E0010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3b5fcd75b41_0_3"/>
          <p:cNvSpPr/>
          <p:nvPr/>
        </p:nvSpPr>
        <p:spPr>
          <a:xfrm rot="10800000">
            <a:off x="8343885" y="4170333"/>
            <a:ext cx="2723400" cy="766500"/>
          </a:xfrm>
          <a:prstGeom prst="trapezoid">
            <a:avLst>
              <a:gd fmla="val 25000" name="adj"/>
            </a:avLst>
          </a:prstGeom>
          <a:solidFill>
            <a:srgbClr val="F57B1F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b5fcd75b41_0_3"/>
          <p:cNvSpPr/>
          <p:nvPr/>
        </p:nvSpPr>
        <p:spPr>
          <a:xfrm rot="10800000">
            <a:off x="8599791" y="5022948"/>
            <a:ext cx="2229600" cy="766500"/>
          </a:xfrm>
          <a:prstGeom prst="trapezoid">
            <a:avLst>
              <a:gd fmla="val 25000" name="adj"/>
            </a:avLst>
          </a:prstGeom>
          <a:solidFill>
            <a:srgbClr val="FFD319"/>
          </a:solidFill>
          <a:ln>
            <a:noFill/>
          </a:ln>
          <a:effectLst>
            <a:outerShdw blurRad="63497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b5fcd75b41_0_3"/>
          <p:cNvSpPr txBox="1"/>
          <p:nvPr/>
        </p:nvSpPr>
        <p:spPr>
          <a:xfrm>
            <a:off x="8487151" y="3335725"/>
            <a:ext cx="245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{{G_INV_ANT}}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g3b5fcd75b41_0_3"/>
          <p:cNvSpPr txBox="1"/>
          <p:nvPr/>
        </p:nvSpPr>
        <p:spPr>
          <a:xfrm>
            <a:off x="9122371" y="3751970"/>
            <a:ext cx="116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PE" sz="10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b5fcd75b41_0_3"/>
          <p:cNvSpPr txBox="1"/>
          <p:nvPr/>
        </p:nvSpPr>
        <p:spPr>
          <a:xfrm>
            <a:off x="8908869" y="4169275"/>
            <a:ext cx="15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{{GOOGLE_LEADS_ANT}}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b5fcd75b41_0_3"/>
          <p:cNvSpPr txBox="1"/>
          <p:nvPr/>
        </p:nvSpPr>
        <p:spPr>
          <a:xfrm>
            <a:off x="9335016" y="4600011"/>
            <a:ext cx="8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Leads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b5fcd75b41_0_3"/>
          <p:cNvSpPr txBox="1"/>
          <p:nvPr/>
        </p:nvSpPr>
        <p:spPr>
          <a:xfrm>
            <a:off x="8981991" y="5035216"/>
            <a:ext cx="14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PE" sz="26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{{G_CPL_ANT}}</a:t>
            </a:r>
            <a:endParaRPr b="1" i="0" sz="26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b5fcd75b41_0_3"/>
          <p:cNvSpPr txBox="1"/>
          <p:nvPr/>
        </p:nvSpPr>
        <p:spPr>
          <a:xfrm>
            <a:off x="8109157" y="2866952"/>
            <a:ext cx="32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PE" sz="1799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Marzo Semana 4</a:t>
            </a:r>
            <a:endParaRPr b="1" i="0" sz="1799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b5fcd75b41_0_3"/>
          <p:cNvSpPr txBox="1"/>
          <p:nvPr/>
        </p:nvSpPr>
        <p:spPr>
          <a:xfrm>
            <a:off x="9397803" y="5345913"/>
            <a:ext cx="6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PE" sz="11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CPL</a:t>
            </a:r>
            <a:endParaRPr b="1" i="0" sz="13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032e05498_4_99"/>
          <p:cNvSpPr txBox="1"/>
          <p:nvPr>
            <p:ph type="title"/>
          </p:nvPr>
        </p:nvSpPr>
        <p:spPr>
          <a:xfrm>
            <a:off x="480600" y="2727250"/>
            <a:ext cx="85404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PE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NEXT STEPS </a:t>
            </a:r>
            <a:endParaRPr b="1" sz="4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27032e05498_4_99"/>
          <p:cNvSpPr txBox="1"/>
          <p:nvPr/>
        </p:nvSpPr>
        <p:spPr>
          <a:xfrm>
            <a:off x="480601" y="5842731"/>
            <a:ext cx="24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CONFIDENTIAL AND PROPRIETARY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PE" sz="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Any use of this material without specific permisión of Revenue, is strictly prohibited.</a:t>
            </a:r>
            <a:endParaRPr b="0" i="0" sz="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6790a96d7_0_35"/>
          <p:cNvSpPr txBox="1"/>
          <p:nvPr>
            <p:ph type="title"/>
          </p:nvPr>
        </p:nvSpPr>
        <p:spPr>
          <a:xfrm>
            <a:off x="554723" y="126500"/>
            <a:ext cx="5396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PE">
                <a:solidFill>
                  <a:srgbClr val="0000FF"/>
                </a:solidFill>
              </a:rPr>
              <a:t xml:space="preserve">Next Steps 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07" name="Google Shape;207;g396790a96d7_0_35"/>
          <p:cNvSpPr txBox="1"/>
          <p:nvPr>
            <p:ph type="title"/>
          </p:nvPr>
        </p:nvSpPr>
        <p:spPr>
          <a:xfrm>
            <a:off x="660300" y="780325"/>
            <a:ext cx="15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PE" sz="1400">
                <a:solidFill>
                  <a:srgbClr val="0000FF"/>
                </a:solidFill>
              </a:rPr>
              <a:t>(01/04 - 24/04)</a:t>
            </a:r>
            <a:endParaRPr b="0" sz="1400">
              <a:solidFill>
                <a:srgbClr val="0000FF"/>
              </a:solidFill>
            </a:endParaRPr>
          </a:p>
        </p:txBody>
      </p:sp>
      <p:sp>
        <p:nvSpPr>
          <p:cNvPr id="208" name="Google Shape;208;g396790a96d7_0_35"/>
          <p:cNvSpPr txBox="1"/>
          <p:nvPr/>
        </p:nvSpPr>
        <p:spPr>
          <a:xfrm>
            <a:off x="840575" y="1373650"/>
            <a:ext cx="9912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 Ads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Mantener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monitoreo diario del costo por resultado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, asegurando que se mantenga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 debajo de $1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Realizar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tests pequeños y controlados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con nuevos anuncios estáticos, sin afectar las campañas que hoy sostienen el volumen.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Evitar escalamientos agresivos hasta validar estabilidad de resultados por al menos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días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Escalar el presupuesto en los públicos que mejor nos funcionan y aprovechar la base de datos disponibles para hacer publicos LAL y optimizar resultados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Ads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{{NEXT_STEPS_GOOGLE}}</a:t>
            </a: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Ajustes puntuales orientados a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seguir bajando progresivamente el CPL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sin cambios estructurales que reinicien el aprendizaje.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Usar Google Ads como canal de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soporte de calidad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no de volumen.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Seguimiento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{{NEXT_STEPS_SEGUIMIENTO}}</a:t>
            </a: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Análisis enfocado en </a:t>
            </a:r>
            <a:r>
              <a:rPr b="1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costo por resultado, calidad del lead y volumen</a:t>
            </a: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antes de definir cualquier nuevo escalado.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Decisiones de optimización basadas en tendencia, no en resultados de pocos días.</a:t>
            </a:r>
            <a:br>
              <a:rPr b="0" i="0" lang="es-PE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2020-08-26T17:59:37Z</dcterms:created>
  <dc:creator>Revenue Digital Solutions</dc:creator>
</cp:coreProperties>
</file>